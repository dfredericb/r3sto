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65760"/>
            <a:ext cx="4754880" cy="4754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457200"/>
            <a:ext cx="20117" cy="5943600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0" y="82296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concept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6217920" y="3017520"/>
            <a:ext cx="3657600" cy="16459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17920" y="31546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Indépendamment du type et du prix,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restaurant peut être reconnu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ce qu'il fait vraiment bien.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4663440"/>
            <a:ext cx="347472" cy="34747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50840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479792" y="4663440"/>
            <a:ext cx="347472" cy="347472"/>
          </a:xfrm>
          <a:prstGeom prst="ellipse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88352" y="50840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741664" y="4663440"/>
            <a:ext cx="347472" cy="347472"/>
          </a:xfrm>
          <a:prstGeom prst="ellipse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50224" y="50840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0003536" y="4663440"/>
            <a:ext cx="347472" cy="347472"/>
          </a:xfrm>
          <a:prstGeom prst="ellipse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12096" y="508406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6217920" y="5623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spc="300" kern="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 ·  Silver  ·  Gold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1828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 — Évaluation Gastronomique Indépendante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54864" cy="6656832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4592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10515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Concept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74320" y="14813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badge unique · Quatre piliers · Trois niveaux d'excellence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749808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920240"/>
            <a:ext cx="45720" cy="13716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029968"/>
            <a:ext cx="7132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 Indépendamment du prix et du type de restaurant —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pizzeria, une brasserie ou un gastronomique peuvent tous obtenir le Gold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les quatre piliers sont respectés au plus haut niveau. »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3520440"/>
            <a:ext cx="2743200" cy="288036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74320" y="3520440"/>
            <a:ext cx="274320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" y="3675888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8912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728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8912" y="4315968"/>
            <a:ext cx="2423160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38912" y="440740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technique culinaire, la maîtrise de la cuisson, le respect et la valorisation du produit dans l'assiette.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3182112" y="3520440"/>
            <a:ext cx="2743200" cy="288036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82112" y="3520440"/>
            <a:ext cx="2743200" cy="45720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346704" y="3675888"/>
            <a:ext cx="548640" cy="548640"/>
          </a:xfrm>
          <a:prstGeom prst="ellipse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46704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005072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46704" y="4315968"/>
            <a:ext cx="2423160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46704" y="440740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fraîcheur des produits, leur provenance, l'authenticité des ingrédients, le bio et les circuits courts.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089904" y="3520440"/>
            <a:ext cx="2743200" cy="288036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089904" y="3520440"/>
            <a:ext cx="2743200" cy="45720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54496" y="3675888"/>
            <a:ext cx="548640" cy="548640"/>
          </a:xfrm>
          <a:prstGeom prst="ellipse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54496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6912864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54496" y="4315968"/>
            <a:ext cx="2423160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254496" y="440740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L'accueil, l'attention portée au client, le respect de ses exigences, le professionnalisme en salle.</a:t>
            </a:r>
            <a:endParaRPr lang="en-US" sz="880" dirty="0"/>
          </a:p>
        </p:txBody>
      </p:sp>
      <p:sp>
        <p:nvSpPr>
          <p:cNvPr id="34" name="Shape 31"/>
          <p:cNvSpPr/>
          <p:nvPr/>
        </p:nvSpPr>
        <p:spPr>
          <a:xfrm>
            <a:off x="8997696" y="3520440"/>
            <a:ext cx="2743200" cy="288036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997696" y="3520440"/>
            <a:ext cx="2743200" cy="45720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162288" y="3675888"/>
            <a:ext cx="548640" cy="548640"/>
          </a:xfrm>
          <a:prstGeom prst="ellipse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62288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9820656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9162288" y="4315968"/>
            <a:ext cx="2423160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62288" y="4407408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L'environnement, la propreté, l'originalité du lieu, la chaleur de l'atmosphère et la cohérence du décor.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1828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 — Évaluation Gastronomique Indépendante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Niveaux CARAT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20040" y="142646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Valables pour tous les types d'établissements — dans leur propre catégorie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1874520"/>
            <a:ext cx="3794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874520"/>
            <a:ext cx="3794760" cy="64008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011680"/>
            <a:ext cx="1005840" cy="5029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26517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Recommandable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457200" y="3044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surprise et sans déception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336499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3456432"/>
            <a:ext cx="340156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quatre piliers sont respectés à un niveau satisfaisant. L'établissement tient ses promesses, quelle que soit sa catégorie. Le client repart satisfait, sans être déçu.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57200" y="464515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70916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Exemples par type :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57200" y="4992624"/>
            <a:ext cx="64008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6072" y="4974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7200" y="51389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correcte, ingrédients frais, service attentionné, salle propre.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57200" y="5449824"/>
            <a:ext cx="64008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76072" y="5431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Gastronomique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57200" y="55961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de saison, cuisson maîtrisée, accueil soigné, décor cohérent.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57200" y="5907024"/>
            <a:ext cx="64008" cy="146304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" y="5888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Brasserie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57200" y="60533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Plats du jour frais, bière bien servie, ambiance animée, service efficace.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4224528" y="1874520"/>
            <a:ext cx="3794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224528" y="1874520"/>
            <a:ext cx="3794760" cy="64008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25696" y="2011680"/>
            <a:ext cx="1005840" cy="502920"/>
          </a:xfrm>
          <a:prstGeom prst="rect">
            <a:avLst/>
          </a:prstGeom>
          <a:solidFill>
            <a:srgbClr val="9A9A9A"/>
          </a:solidFill>
          <a:ln w="12700">
            <a:solidFill>
              <a:srgbClr val="9A9A9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425696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SILVER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425696" y="26517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Remarquable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4425696" y="3044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distingue clairement dans sa catégorie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425696" y="336499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425696" y="3456432"/>
            <a:ext cx="340156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L'établissement va au-delà des attentes sur les quatre piliers. Il a une identité propre, une régularité appréciable et offre une expérience mémorable dans sa catégorie.</a:t>
            </a:r>
            <a:endParaRPr lang="en-US" sz="880" dirty="0"/>
          </a:p>
        </p:txBody>
      </p:sp>
      <p:sp>
        <p:nvSpPr>
          <p:cNvPr id="37" name="Shape 34"/>
          <p:cNvSpPr/>
          <p:nvPr/>
        </p:nvSpPr>
        <p:spPr>
          <a:xfrm>
            <a:off x="4425696" y="464515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425696" y="470916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Exemples par type :</a:t>
            </a:r>
            <a:endParaRPr lang="en-US" sz="750" dirty="0"/>
          </a:p>
        </p:txBody>
      </p:sp>
      <p:sp>
        <p:nvSpPr>
          <p:cNvPr id="39" name="Shape 36"/>
          <p:cNvSpPr/>
          <p:nvPr/>
        </p:nvSpPr>
        <p:spPr>
          <a:xfrm>
            <a:off x="4425696" y="4992624"/>
            <a:ext cx="64008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44568" y="4974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425696" y="51389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longue fermentation, mozzarella de qualité, cuisson four bois.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425696" y="5449824"/>
            <a:ext cx="64008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44568" y="5431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Gastronomique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4425696" y="55961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du terroir, technique créative, service personnalisé, cadre élégant.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4425696" y="5907024"/>
            <a:ext cx="64008" cy="146304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544568" y="5888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Brasserie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425696" y="60533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 maison, sélection de bières artisanales, atmosphère authentique.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8193024" y="1874520"/>
            <a:ext cx="37947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8193024" y="1874520"/>
            <a:ext cx="3794760" cy="6400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94192" y="2011680"/>
            <a:ext cx="1005840" cy="5029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94192" y="2011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394192" y="2651760"/>
            <a:ext cx="3401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Exceptionnel</a:t>
            </a:r>
            <a:endParaRPr lang="en-US" sz="2000" dirty="0"/>
          </a:p>
        </p:txBody>
      </p:sp>
      <p:sp>
        <p:nvSpPr>
          <p:cNvPr id="53" name="Text 50"/>
          <p:cNvSpPr/>
          <p:nvPr/>
        </p:nvSpPr>
        <p:spPr>
          <a:xfrm>
            <a:off x="8394192" y="30449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Référence absolue dans sa catégorie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394192" y="336499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394192" y="3456432"/>
            <a:ext cx="340156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88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L'excellence sur les quatre piliers. Rare et désirable. Un restaurant Gold est LA référence de sa catégorie dans sa ville. Chaque visite est une expérience unique et irréprochable.</a:t>
            </a:r>
            <a:endParaRPr lang="en-US" sz="880" dirty="0"/>
          </a:p>
        </p:txBody>
      </p:sp>
      <p:sp>
        <p:nvSpPr>
          <p:cNvPr id="56" name="Shape 53"/>
          <p:cNvSpPr/>
          <p:nvPr/>
        </p:nvSpPr>
        <p:spPr>
          <a:xfrm>
            <a:off x="8394192" y="4645152"/>
            <a:ext cx="3337560" cy="0"/>
          </a:xfrm>
          <a:prstGeom prst="line">
            <a:avLst/>
          </a:prstGeom>
          <a:noFill/>
          <a:ln w="10160">
            <a:solidFill>
              <a:srgbClr val="E8E5D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394192" y="4709160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Exemples par type :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8394192" y="4992624"/>
            <a:ext cx="64008" cy="14630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13064" y="49743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8394192" y="51389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Mozzarella di bufala DOP, farine type 00, maître pizzaïolo, recettes originales.</a:t>
            </a:r>
            <a:endParaRPr lang="en-US" sz="750" dirty="0"/>
          </a:p>
        </p:txBody>
      </p:sp>
      <p:sp>
        <p:nvSpPr>
          <p:cNvPr id="61" name="Shape 58"/>
          <p:cNvSpPr/>
          <p:nvPr/>
        </p:nvSpPr>
        <p:spPr>
          <a:xfrm>
            <a:off x="8394192" y="5449824"/>
            <a:ext cx="64008" cy="146304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513064" y="54315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Gastronomique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8394192" y="55961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d'exception, technique irréprochable, service impeccable, écrin unique.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8394192" y="5907024"/>
            <a:ext cx="64008" cy="146304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513064" y="588873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Brasserie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8394192" y="6053328"/>
            <a:ext cx="3401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affirmé, tout fait maison, ambiance inégalée, fidélité absolue.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1828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 — Évaluation Gastronomique Indépendante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960120"/>
            <a:ext cx="9144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4 Piliers de l'Évaluation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20040" y="14264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mêmes critères — adaptés à chaque type d'établissement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" y="1874520"/>
            <a:ext cx="2834640" cy="45720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7452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" y="201168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70432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20624" y="2788920"/>
            <a:ext cx="2487168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0624" y="2852928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i="1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façon de cuisiner, de cuire les aliments, de les apprêter et de les respecter.</a:t>
            </a:r>
            <a:endParaRPr lang="en-US" sz="880" dirty="0"/>
          </a:p>
        </p:txBody>
      </p:sp>
      <p:sp>
        <p:nvSpPr>
          <p:cNvPr id="16" name="Shape 13"/>
          <p:cNvSpPr/>
          <p:nvPr/>
        </p:nvSpPr>
        <p:spPr>
          <a:xfrm>
            <a:off x="420624" y="3730752"/>
            <a:ext cx="2487168" cy="0"/>
          </a:xfrm>
          <a:prstGeom prst="line">
            <a:avLst/>
          </a:prstGeom>
          <a:noFill/>
          <a:ln w="6350">
            <a:solidFill>
              <a:srgbClr val="2A201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Bronze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20624" y="400507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Cuissons correctes, respect des recettes de base, aucune erreur grossière.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420624" y="46451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 Silver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20624" y="4846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technique visible, régularité, souci du détail dans la préparation.</a:t>
            </a:r>
            <a:endParaRPr lang="en-US" sz="780" dirty="0"/>
          </a:p>
        </p:txBody>
      </p:sp>
      <p:sp>
        <p:nvSpPr>
          <p:cNvPr id="21" name="Text 18"/>
          <p:cNvSpPr/>
          <p:nvPr/>
        </p:nvSpPr>
        <p:spPr>
          <a:xfrm>
            <a:off x="420624" y="54864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◆◆◆ Gold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20624" y="568756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Excellence technique, créativité, précision absolue, chaque plat est irréprochable.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3236976" y="1874520"/>
            <a:ext cx="2834640" cy="45720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236976" y="1874520"/>
            <a:ext cx="2834640" cy="54864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401568" y="2011680"/>
            <a:ext cx="640080" cy="640080"/>
          </a:xfrm>
          <a:prstGeom prst="ellipse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401568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151376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401568" y="2788920"/>
            <a:ext cx="2487168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401568" y="2852928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i="1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des produits utilisés, leur provenance, leur fraîcheur et leur authenticité.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3401568" y="3730752"/>
            <a:ext cx="2487168" cy="0"/>
          </a:xfrm>
          <a:prstGeom prst="line">
            <a:avLst/>
          </a:prstGeom>
          <a:noFill/>
          <a:ln w="6350">
            <a:solidFill>
              <a:srgbClr val="2A201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01568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Bronze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3401568" y="400507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frais, ingrédients de base honnêtes, aucune tromperie sur la marchandise.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3401568" y="46451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 Silver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401568" y="4846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sélectionnés, provenance identifiée, bio ou local valorisé.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3401568" y="54864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◆◆◆ Gold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3401568" y="568756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d'exception, DOP/IGP, circuits ultra-courts, traçabilité exemplaire.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6217920" y="1874520"/>
            <a:ext cx="2834640" cy="45720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217920" y="1874520"/>
            <a:ext cx="2834640" cy="54864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382512" y="2011680"/>
            <a:ext cx="640080" cy="640080"/>
          </a:xfrm>
          <a:prstGeom prst="ellipse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382512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2200" dirty="0"/>
          </a:p>
        </p:txBody>
      </p:sp>
      <p:sp>
        <p:nvSpPr>
          <p:cNvPr id="41" name="Text 38"/>
          <p:cNvSpPr/>
          <p:nvPr/>
        </p:nvSpPr>
        <p:spPr>
          <a:xfrm>
            <a:off x="713232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382512" y="2788920"/>
            <a:ext cx="2487168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82512" y="2852928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i="1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L'accueil, le respect du client, l'attention portée à ses exigences, le professionnalisme.</a:t>
            </a:r>
            <a:endParaRPr lang="en-US" sz="880" dirty="0"/>
          </a:p>
        </p:txBody>
      </p:sp>
      <p:sp>
        <p:nvSpPr>
          <p:cNvPr id="44" name="Shape 41"/>
          <p:cNvSpPr/>
          <p:nvPr/>
        </p:nvSpPr>
        <p:spPr>
          <a:xfrm>
            <a:off x="6382512" y="3730752"/>
            <a:ext cx="2487168" cy="0"/>
          </a:xfrm>
          <a:prstGeom prst="line">
            <a:avLst/>
          </a:prstGeom>
          <a:noFill/>
          <a:ln w="6350">
            <a:solidFill>
              <a:srgbClr val="2A201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82512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Bronze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382512" y="400507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correct, commande prise rapidement, pas d'impolitesse ni d'inattention.</a:t>
            </a:r>
            <a:endParaRPr lang="en-US" sz="780" dirty="0"/>
          </a:p>
        </p:txBody>
      </p:sp>
      <p:sp>
        <p:nvSpPr>
          <p:cNvPr id="47" name="Text 44"/>
          <p:cNvSpPr/>
          <p:nvPr/>
        </p:nvSpPr>
        <p:spPr>
          <a:xfrm>
            <a:off x="6382512" y="46451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 Silver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6382512" y="4846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attentionné, personnel formé, réactivité, connaissance de la carte.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6382512" y="54864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◆◆◆ Gold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382512" y="568756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impeccable, anticipation des besoins, personnalisation, zéro faux pas.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9198864" y="1874520"/>
            <a:ext cx="2834640" cy="45720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9198864" y="1874520"/>
            <a:ext cx="2834640" cy="54864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363456" y="2011680"/>
            <a:ext cx="640080" cy="640080"/>
          </a:xfrm>
          <a:prstGeom prst="ellipse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36345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55" name="Text 52"/>
          <p:cNvSpPr/>
          <p:nvPr/>
        </p:nvSpPr>
        <p:spPr>
          <a:xfrm>
            <a:off x="10113264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9363456" y="2788920"/>
            <a:ext cx="2487168" cy="0"/>
          </a:xfrm>
          <a:prstGeom prst="line">
            <a:avLst/>
          </a:prstGeom>
          <a:noFill/>
          <a:ln w="8890">
            <a:solidFill>
              <a:srgbClr val="2A2010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363456" y="2852928"/>
            <a:ext cx="248716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i="1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L'environnement où il fait bon vivre — propreté, chaleur, originalité, cohérence du lieu.</a:t>
            </a:r>
            <a:endParaRPr lang="en-US" sz="880" dirty="0"/>
          </a:p>
        </p:txBody>
      </p:sp>
      <p:sp>
        <p:nvSpPr>
          <p:cNvPr id="58" name="Shape 55"/>
          <p:cNvSpPr/>
          <p:nvPr/>
        </p:nvSpPr>
        <p:spPr>
          <a:xfrm>
            <a:off x="9363456" y="3730752"/>
            <a:ext cx="2487168" cy="0"/>
          </a:xfrm>
          <a:prstGeom prst="line">
            <a:avLst/>
          </a:prstGeom>
          <a:noFill/>
          <a:ln w="6350">
            <a:solidFill>
              <a:srgbClr val="2A201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363456" y="380390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 Bronze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9363456" y="4005072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propre, éclairage convenable, mobilier en bon état, aucune nuisance.</a:t>
            </a:r>
            <a:endParaRPr lang="en-US" sz="780" dirty="0"/>
          </a:p>
        </p:txBody>
      </p:sp>
      <p:sp>
        <p:nvSpPr>
          <p:cNvPr id="61" name="Text 58"/>
          <p:cNvSpPr/>
          <p:nvPr/>
        </p:nvSpPr>
        <p:spPr>
          <a:xfrm>
            <a:off x="9363456" y="46451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A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 Silver</a:t>
            </a:r>
            <a:endParaRPr lang="en-US" sz="800" dirty="0"/>
          </a:p>
        </p:txBody>
      </p:sp>
      <p:sp>
        <p:nvSpPr>
          <p:cNvPr id="62" name="Text 59"/>
          <p:cNvSpPr/>
          <p:nvPr/>
        </p:nvSpPr>
        <p:spPr>
          <a:xfrm>
            <a:off x="9363456" y="48463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Décor cohérent avec le concept, ambiance identifiable, lieu agréable et soigné.</a:t>
            </a:r>
            <a:endParaRPr lang="en-US" sz="780" dirty="0"/>
          </a:p>
        </p:txBody>
      </p:sp>
      <p:sp>
        <p:nvSpPr>
          <p:cNvPr id="63" name="Text 60"/>
          <p:cNvSpPr/>
          <p:nvPr/>
        </p:nvSpPr>
        <p:spPr>
          <a:xfrm>
            <a:off x="9363456" y="54864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◆◆◆ Gold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9363456" y="5687568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Atmosphère unique, décor travaillé, lieu iconique, expérience sensorielle complète.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1828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 — Évaluation Gastronomique Indépendante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10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concept universel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320040" y="142646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grille d'évaluation s'adapte — l'exigence reste la même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1920240"/>
            <a:ext cx="116677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920240"/>
            <a:ext cx="822960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24688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Pizzeria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234440" y="199339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34440" y="1993392"/>
            <a:ext cx="24688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44168" y="20756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344168" y="230428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Pâte (farine, fermentation, hydratation), cuisson four bois ou électrique, corniche alvéolée.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3867912" y="199339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67912" y="1993392"/>
            <a:ext cx="2468880" cy="36576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977640" y="20756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977640" y="230428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Mozzarella di bufala, tomates San Marzano, huile d'olive EVO, ingrédients frais du jour.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6501384" y="199339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01384" y="1993392"/>
            <a:ext cx="2468880" cy="36576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1112" y="20756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611112" y="230428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chaleureux, temps d'attente maîtrisé, explication des recettes, sourire.</a:t>
            </a:r>
            <a:endParaRPr lang="en-US" sz="780" dirty="0"/>
          </a:p>
        </p:txBody>
      </p:sp>
      <p:sp>
        <p:nvSpPr>
          <p:cNvPr id="25" name="Shape 22"/>
          <p:cNvSpPr/>
          <p:nvPr/>
        </p:nvSpPr>
        <p:spPr>
          <a:xfrm>
            <a:off x="9134856" y="199339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134856" y="1993392"/>
            <a:ext cx="2468880" cy="36576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244584" y="207568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9244584" y="230428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 propre, décor italien authentique ou contemporain, musique adaptée, tables espacées.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256032" y="3474720"/>
            <a:ext cx="116677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56032" y="3474720"/>
            <a:ext cx="822960" cy="141732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56032" y="40233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Gastronomique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234440" y="354787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234440" y="3547872"/>
            <a:ext cx="24688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344168" y="3630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1344168" y="38587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des techniques (basse température, fermentation, fumage), créativité, précision.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3867912" y="354787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867912" y="3547872"/>
            <a:ext cx="2468880" cy="36576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977640" y="3630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977640" y="38587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du terroir, producteurs identifiés, saisonnalité stricte, accord met-vin réfléchi.</a:t>
            </a:r>
            <a:endParaRPr lang="en-US" sz="780" dirty="0"/>
          </a:p>
        </p:txBody>
      </p:sp>
      <p:sp>
        <p:nvSpPr>
          <p:cNvPr id="40" name="Shape 37"/>
          <p:cNvSpPr/>
          <p:nvPr/>
        </p:nvSpPr>
        <p:spPr>
          <a:xfrm>
            <a:off x="6501384" y="354787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501384" y="3547872"/>
            <a:ext cx="2468880" cy="36576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611112" y="3630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611112" y="38587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 salle impeccable, sommelier, cloche, personnalisation de l'expérience.</a:t>
            </a:r>
            <a:endParaRPr lang="en-US" sz="780" dirty="0"/>
          </a:p>
        </p:txBody>
      </p:sp>
      <p:sp>
        <p:nvSpPr>
          <p:cNvPr id="44" name="Shape 41"/>
          <p:cNvSpPr/>
          <p:nvPr/>
        </p:nvSpPr>
        <p:spPr>
          <a:xfrm>
            <a:off x="9134856" y="354787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134856" y="3547872"/>
            <a:ext cx="2468880" cy="36576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244584" y="363016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244584" y="385876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élégant, éclairage travaillé, acoustique soignée, mise en scène de la salle.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256032" y="5029200"/>
            <a:ext cx="1166774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5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56032" y="5029200"/>
            <a:ext cx="822960" cy="1417320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56032" y="55778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Brasserie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1234440" y="510235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234440" y="5102352"/>
            <a:ext cx="246888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344168" y="51846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APPRÊT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344168" y="541324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Classiques brasserie bien exécutés (tartare, steak-frites, moules), régularité.</a:t>
            </a:r>
            <a:endParaRPr lang="en-US" sz="780" dirty="0"/>
          </a:p>
        </p:txBody>
      </p:sp>
      <p:sp>
        <p:nvSpPr>
          <p:cNvPr id="55" name="Shape 52"/>
          <p:cNvSpPr/>
          <p:nvPr/>
        </p:nvSpPr>
        <p:spPr>
          <a:xfrm>
            <a:off x="3867912" y="510235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867912" y="5102352"/>
            <a:ext cx="2468880" cy="36576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977640" y="51846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777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3977640" y="541324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frais, viandes traçables, bières artisanales ou sélectionnées, plats du jour.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6501384" y="510235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501384" y="5102352"/>
            <a:ext cx="2468880" cy="36576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611112" y="51846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6611112" y="541324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décontracté mais efficace, connaissance de la carte, rapidité aux heures de pointe.</a:t>
            </a:r>
            <a:endParaRPr lang="en-US" sz="780" dirty="0"/>
          </a:p>
        </p:txBody>
      </p:sp>
      <p:sp>
        <p:nvSpPr>
          <p:cNvPr id="63" name="Shape 60"/>
          <p:cNvSpPr/>
          <p:nvPr/>
        </p:nvSpPr>
        <p:spPr>
          <a:xfrm>
            <a:off x="9134856" y="5102352"/>
            <a:ext cx="2468880" cy="1261872"/>
          </a:xfrm>
          <a:prstGeom prst="rect">
            <a:avLst/>
          </a:prstGeom>
          <a:solidFill>
            <a:srgbClr val="FAFAF6"/>
          </a:solidFill>
          <a:ln w="12700">
            <a:solidFill>
              <a:srgbClr val="EEEBE4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134856" y="5102352"/>
            <a:ext cx="2468880" cy="36576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244584" y="518464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1D5E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AMBIANCE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9244584" y="5413248"/>
            <a:ext cx="224942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Ambiance animée et conviviale, décor brasserie authentique, bruit maîtrisé, propreté.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256032" y="6473952"/>
            <a:ext cx="11667744" cy="137160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65760" y="6483096"/>
            <a:ext cx="11430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Dans chaque catégorie, le GOLD récompense la même chose : l'excellence absolue sur les 4 piliers. Pas de compromis.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38544"/>
            <a:ext cx="12161520" cy="219456"/>
          </a:xfrm>
          <a:prstGeom prst="rect">
            <a:avLst/>
          </a:prstGeom>
          <a:solidFill>
            <a:srgbClr val="1A1810"/>
          </a:solidFill>
          <a:ln w="12700">
            <a:solidFill>
              <a:srgbClr val="1A18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38544"/>
            <a:ext cx="12161520" cy="1828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656832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CARAT — Évaluation Gastronomique Indépendante</a:t>
            </a:r>
            <a:endParaRPr lang="en-US" sz="600" dirty="0"/>
          </a:p>
        </p:txBody>
      </p:sp>
      <p:sp>
        <p:nvSpPr>
          <p:cNvPr id="5" name="Text 3"/>
          <p:cNvSpPr/>
          <p:nvPr/>
        </p:nvSpPr>
        <p:spPr>
          <a:xfrm>
            <a:off x="11612880" y="66568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A5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8016"/>
            <a:ext cx="71323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96012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L'Attribution du Badge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20040" y="142646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processus rigoureux — évaluateurs anonymes · questionnaire anti-fraude · photos horodatées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" y="192024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" y="1920240"/>
            <a:ext cx="45720" cy="13716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2011680"/>
            <a:ext cx="594360" cy="594360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70432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Visite anonyme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70432" y="237744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évaluateur certifié CARAT visite l'établissement incognito. Il vit l'expérience comme n'importe quel client.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6309360" y="192024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9360" y="1920240"/>
            <a:ext cx="45720" cy="13716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223760" y="20299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obligatoires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223760" y="237744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plat est photographié avant d'être touché. Le menu est scanné. Sans preuve visuelle, pas de soumission possible.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256032" y="342900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6032" y="3429000"/>
            <a:ext cx="45720" cy="1371600"/>
          </a:xfrm>
          <a:prstGeom prst="rect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38912" y="3520440"/>
            <a:ext cx="594360" cy="594360"/>
          </a:xfrm>
          <a:prstGeom prst="ellipse">
            <a:avLst/>
          </a:prstGeom>
          <a:solidFill>
            <a:srgbClr val="27773A"/>
          </a:solidFill>
          <a:ln w="12700">
            <a:solidFill>
              <a:srgbClr val="27773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70432" y="3538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Questionnaire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70432" y="388620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questions intelligentes sur les 4 piliers, adaptées à la catégorie. Un algorithme détecte les incohérences.</a:t>
            </a:r>
            <a:endParaRPr lang="en-US" sz="880" dirty="0"/>
          </a:p>
        </p:txBody>
      </p:sp>
      <p:sp>
        <p:nvSpPr>
          <p:cNvPr id="27" name="Shape 24"/>
          <p:cNvSpPr/>
          <p:nvPr/>
        </p:nvSpPr>
        <p:spPr>
          <a:xfrm>
            <a:off x="6309360" y="342900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09360" y="3429000"/>
            <a:ext cx="45720" cy="1371600"/>
          </a:xfrm>
          <a:prstGeom prst="rect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92240" y="3520440"/>
            <a:ext cx="594360" cy="594360"/>
          </a:xfrm>
          <a:prstGeom prst="ellipse">
            <a:avLst/>
          </a:prstGeom>
          <a:solidFill>
            <a:srgbClr val="D4660A"/>
          </a:solidFill>
          <a:ln w="12700">
            <a:solidFill>
              <a:srgbClr val="D4660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223760" y="3538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 &amp; scoring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23760" y="388620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CARAT croise le questionnaire, les photos et le menu scanné. Un score est calculé sur chaque pilier.</a:t>
            </a:r>
            <a:endParaRPr lang="en-US" sz="880" dirty="0"/>
          </a:p>
        </p:txBody>
      </p:sp>
      <p:sp>
        <p:nvSpPr>
          <p:cNvPr id="33" name="Shape 30"/>
          <p:cNvSpPr/>
          <p:nvPr/>
        </p:nvSpPr>
        <p:spPr>
          <a:xfrm>
            <a:off x="256032" y="493776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56032" y="4937760"/>
            <a:ext cx="45720" cy="1371600"/>
          </a:xfrm>
          <a:prstGeom prst="rect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8912" y="5029200"/>
            <a:ext cx="594360" cy="594360"/>
          </a:xfrm>
          <a:prstGeom prst="ellipse">
            <a:avLst/>
          </a:prstGeom>
          <a:solidFill>
            <a:srgbClr val="1D5E8C"/>
          </a:solidFill>
          <a:ln w="12700">
            <a:solidFill>
              <a:srgbClr val="1D5E8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38912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170432" y="5047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Attribution du niveau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70432" y="53949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les 4 piliers atteignent les seuils requis : Bronze, Silver ou Gold est décerné. Sinon : aucun badge.</a:t>
            </a:r>
            <a:endParaRPr lang="en-US" sz="880" dirty="0"/>
          </a:p>
        </p:txBody>
      </p:sp>
      <p:sp>
        <p:nvSpPr>
          <p:cNvPr id="39" name="Shape 36"/>
          <p:cNvSpPr/>
          <p:nvPr/>
        </p:nvSpPr>
        <p:spPr>
          <a:xfrm>
            <a:off x="6309360" y="4937760"/>
            <a:ext cx="5715000" cy="1371600"/>
          </a:xfrm>
          <a:prstGeom prst="rect">
            <a:avLst/>
          </a:prstGeom>
          <a:solidFill>
            <a:srgbClr val="111108"/>
          </a:solidFill>
          <a:ln w="12700">
            <a:solidFill>
              <a:srgbClr val="2A201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309360" y="4937760"/>
            <a:ext cx="45720" cy="1371600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92240" y="5029200"/>
            <a:ext cx="594360" cy="594360"/>
          </a:xfrm>
          <a:prstGeom prst="ellipse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92240" y="5029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223760" y="50474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Renouvellement annuel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7223760" y="53949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80" dirty="0">
                <a:solidFill>
                  <a:srgbClr val="88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badge expire chaque année. Une nouvelle visite est automatiquement déclenchée. L'excellence doit être maintenue.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74320"/>
            <a:ext cx="5486400" cy="5486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49240"/>
            <a:ext cx="12161520" cy="1508760"/>
          </a:xfrm>
          <a:prstGeom prst="rect">
            <a:avLst/>
          </a:prstGeom>
          <a:solidFill>
            <a:srgbClr val="050505">
              <a:alpha val="90000"/>
            </a:srgbClr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349240"/>
            <a:ext cx="12161520" cy="18288"/>
          </a:xfrm>
          <a:prstGeom prst="rect">
            <a:avLst/>
          </a:prstGeom>
          <a:solidFill>
            <a:srgbClr val="C8A030"/>
          </a:solidFill>
          <a:ln w="12700">
            <a:solidFill>
              <a:srgbClr val="C8A03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44068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spc="4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 · Silver · Gold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58704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excellence mérite d'être reconnue.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A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Didier Bonny  </a:t>
            </a:r>
            <a:pPr indent="0" marL="0">
              <a:buNone/>
            </a:pPr>
            <a:r>
              <a:rPr lang="en-US" sz="950" dirty="0">
                <a:solidFill>
                  <a:srgbClr val="8A8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·  079 530 10 00  ·  info@innoptimgroup.com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6A5010"/>
          </a:solidFill>
          <a:ln w="12700">
            <a:solidFill>
              <a:srgbClr val="6A501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2026-03-21T09:37:14Z</dcterms:created>
  <dcterms:modified xsi:type="dcterms:W3CDTF">2026-03-21T09:37:14Z</dcterms:modified>
</cp:coreProperties>
</file>